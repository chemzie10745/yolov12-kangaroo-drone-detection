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notesMasterIdLst>
    <p:notesMasterId r:id="rId14"/>
  </p:notesMasterIdLst>
  <p:sldIdLst>
    <p:sldId id="256" r:id="rId2"/>
    <p:sldId id="258" r:id="rId3"/>
    <p:sldId id="260" r:id="rId4"/>
    <p:sldId id="259" r:id="rId5"/>
    <p:sldId id="268" r:id="rId6"/>
    <p:sldId id="262" r:id="rId7"/>
    <p:sldId id="261" r:id="rId8"/>
    <p:sldId id="269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DC23F2-7078-57E6-36FF-BA0561C5CC6B}" v="74" dt="2025-10-27T22:49:14.998"/>
    <p1510:client id="{49129035-356C-4F37-A25C-DEB40D9DE8AE}" v="29" dt="2025-10-27T22:06:24.643"/>
    <p1510:client id="{5F575CAA-45FA-E748-FA85-E4FF33F985A1}" v="1" dt="2025-10-27T20:20:03.601"/>
    <p1510:client id="{7F3F5F6C-809B-7805-5115-C9D75A97240F}" v="1" dt="2025-10-27T20:20:27.293"/>
    <p1510:client id="{9C40DBC2-48CB-EE8B-2C1B-9BD73CFC83E6}" v="356" dt="2025-10-27T04:20:40.638"/>
    <p1510:client id="{A5C93866-C4C9-EBAB-4EB4-CB0D6B1EA2D8}" v="372" dt="2025-10-27T05:50:32.347"/>
    <p1510:client id="{B2E5AB76-BF76-A128-3473-EB4BA5058B6A}" v="215" dt="2025-10-27T20:18:39.910"/>
    <p1510:client id="{CFB6C055-46C5-CA95-C9AC-FB13ACE64A0C}" v="3" dt="2025-10-27T22:56:29.874"/>
    <p1510:client id="{D500C95A-E024-3209-CBCF-F6FF4EC418FE}" v="24" dt="2025-10-27T22:39:48.351"/>
    <p1510:client id="{DE78C581-6E46-97CE-23DF-856E831E1387}" v="72" dt="2025-10-27T21:28:38.307"/>
    <p1510:client id="{E8360C5E-10C4-94AD-0306-B7B6CBC977FC}" v="164" dt="2025-10-27T23:00:51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8C1E5-0590-45BC-86F7-5124F0B00602}" type="datetimeFigureOut">
              <a:t>10/27/2025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C6107-2B5D-4F66-B930-57B10278D6F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259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/>
              <a:t>Speaker cue:</a:t>
            </a:r>
            <a:r>
              <a:rPr lang="en-GB"/>
              <a:t> Introduce CSIRO context + why AI is essential for field automation.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C6107-2B5D-4F66-B930-57B10278D6FA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1236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Summarize project progress and how agile planning kept team on track.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C6107-2B5D-4F66-B930-57B10278D6FA}" type="slidenum"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7031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Speaker cue: </a:t>
            </a:r>
            <a:r>
              <a:rPr lang="en-GB"/>
              <a:t>Briefly walk through metrics and showcase example outputs.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C6107-2B5D-4F66-B930-57B10278D6FA}" type="slidenum">
              <a:rPr lang="en-GB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010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/>
              <a:t>Speaker cue:</a:t>
            </a:r>
            <a:r>
              <a:rPr lang="en-GB"/>
              <a:t> Explain how QA ensured model reliability and reproducibility.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C6107-2B5D-4F66-B930-57B10278D6FA}" type="slidenum">
              <a:rPr lang="en-GB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082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93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69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70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63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43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21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11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4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35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82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8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finger pointing on a tablet with green neon lights">
            <a:extLst>
              <a:ext uri="{FF2B5EF4-FFF2-40B4-BE49-F238E27FC236}">
                <a16:creationId xmlns:a16="http://schemas.microsoft.com/office/drawing/2014/main" id="{591B66A2-B8C8-08CF-4A5C-085AE0CF89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91" r="9091"/>
          <a:stretch>
            <a:fillRect/>
          </a:stretch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pPr algn="l"/>
            <a:r>
              <a:rPr lang="en-GB" sz="6600">
                <a:solidFill>
                  <a:schemeClr val="bg1"/>
                </a:solidFill>
                <a:ea typeface="+mj-lt"/>
                <a:cs typeface="+mj-lt"/>
              </a:rPr>
              <a:t>Dual Object Detection using YOLOv12</a:t>
            </a:r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8647DD5-6525-E186-E8C2-B43618806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GB">
                <a:solidFill>
                  <a:schemeClr val="bg1"/>
                </a:solidFill>
                <a:ea typeface="+mn-lt"/>
                <a:cs typeface="+mn-lt"/>
              </a:rPr>
              <a:t>Kangaroo &amp; Drone Recognition for Environmental and Aerial Safety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01203-452A-30B3-5DB8-927636F80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Project Background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F1B56-4BBA-2090-AE9D-6AC842437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GB" b="1"/>
          </a:p>
          <a:p>
            <a:pPr>
              <a:buFont typeface="Arial"/>
              <a:buChar char="•"/>
            </a:pPr>
            <a:endParaRPr lang="en-GB"/>
          </a:p>
          <a:p>
            <a:pPr indent="0">
              <a:buNone/>
            </a:pPr>
            <a:endParaRPr lang="en-GB" b="1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4BA99E-5E6D-3A20-F287-76B2AAA91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285750" indent="-285750">
              <a:buFont typeface="Arial,Sans-Serif"/>
              <a:buChar char="•"/>
            </a:pPr>
            <a:r>
              <a:rPr lang="en-GB" sz="3200"/>
              <a:t>CSIRO relies on drones to track wildlife and monitor ecosystems.</a:t>
            </a:r>
          </a:p>
          <a:p>
            <a:pPr marL="285750" indent="-285750">
              <a:buFont typeface="Arial,Sans-Serif"/>
              <a:buChar char="•"/>
            </a:pPr>
            <a:r>
              <a:rPr lang="en-GB" sz="3200"/>
              <a:t>Manual analysis is time-consuming and error-prone.</a:t>
            </a:r>
          </a:p>
          <a:p>
            <a:pPr marL="285750" indent="-285750">
              <a:buFont typeface="Arial,Sans-Serif"/>
              <a:buChar char="•"/>
            </a:pPr>
            <a:r>
              <a:rPr lang="en-GB" sz="3200"/>
              <a:t>AI vision models enable real-time biodiversity tracking and aerial monitoring.</a:t>
            </a:r>
          </a:p>
          <a:p>
            <a:pPr marL="285750" indent="-285750">
              <a:buFont typeface="Arial,Sans-Serif"/>
              <a:buChar char="•"/>
            </a:pPr>
            <a:r>
              <a:rPr lang="en-GB" sz="3200"/>
              <a:t>Need for a unified AI solution supporting both ground and air data.</a:t>
            </a:r>
            <a:endParaRPr lang="en-GB"/>
          </a:p>
        </p:txBody>
      </p:sp>
      <p:pic>
        <p:nvPicPr>
          <p:cNvPr id="5" name="Picture 4" descr="A drone flying over a field&#10;&#10;AI-generated content may be incorrect.">
            <a:extLst>
              <a:ext uri="{FF2B5EF4-FFF2-40B4-BE49-F238E27FC236}">
                <a16:creationId xmlns:a16="http://schemas.microsoft.com/office/drawing/2014/main" id="{FEE1A7D4-B914-6054-1DBE-6EAC7323E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980" y="2026953"/>
            <a:ext cx="6590439" cy="279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24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rone flying over a field">
            <a:extLst>
              <a:ext uri="{FF2B5EF4-FFF2-40B4-BE49-F238E27FC236}">
                <a16:creationId xmlns:a16="http://schemas.microsoft.com/office/drawing/2014/main" id="{C78088FF-C543-12C2-8607-AE67CEF5E7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15" r="8344" b="-1"/>
          <a:stretch>
            <a:fillRect/>
          </a:stretch>
        </p:blipFill>
        <p:spPr>
          <a:xfrm>
            <a:off x="4883022" y="10"/>
            <a:ext cx="7308978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25" name="Freeform: Shape 17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19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6857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A7C12D-554A-E94A-72C1-A3B8C9899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856488"/>
            <a:ext cx="4992624" cy="12435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3400">
                <a:ea typeface="+mj-lt"/>
                <a:cs typeface="+mj-lt"/>
              </a:rPr>
              <a:t>Problem Statement</a:t>
            </a:r>
            <a:endParaRPr lang="en-US" sz="34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769" y="2195336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888CF-A7D8-C161-8FD1-908D4B9A7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2522949"/>
            <a:ext cx="5065776" cy="34023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 sz="1400">
                <a:ea typeface="+mn-lt"/>
                <a:cs typeface="+mn-lt"/>
              </a:rPr>
              <a:t>      CSIRO faces challenges in automating drone and wildlife detection for large-scale environmental monitoring and airspace safety.</a:t>
            </a:r>
            <a:br>
              <a:rPr lang="en-GB" sz="1400">
                <a:ea typeface="+mn-lt"/>
                <a:cs typeface="+mn-lt"/>
              </a:rPr>
            </a:br>
            <a:r>
              <a:rPr lang="en-GB" sz="1400">
                <a:ea typeface="+mn-lt"/>
                <a:cs typeface="+mn-lt"/>
              </a:rPr>
              <a:t>Current manual methods are slow, inconsistent, and not scalable, limiting timely analysis and operational efficiency.       </a:t>
            </a:r>
            <a:endParaRPr lang="en-GB" sz="1400"/>
          </a:p>
          <a:p>
            <a:pPr>
              <a:buNone/>
            </a:pPr>
            <a:endParaRPr lang="en-GB" sz="1400">
              <a:ea typeface="+mn-lt"/>
              <a:cs typeface="+mn-lt"/>
            </a:endParaRPr>
          </a:p>
          <a:p>
            <a:pPr>
              <a:buNone/>
            </a:pPr>
            <a:r>
              <a:rPr lang="en-GB" sz="1400" b="1">
                <a:ea typeface="+mn-lt"/>
                <a:cs typeface="+mn-lt"/>
              </a:rPr>
              <a:t>Key Challenges:</a:t>
            </a:r>
            <a:endParaRPr lang="en-GB" sz="1400"/>
          </a:p>
          <a:p>
            <a:pPr>
              <a:buFont typeface="Arial"/>
              <a:buChar char="•"/>
            </a:pPr>
            <a:r>
              <a:rPr lang="en-GB" sz="1400">
                <a:ea typeface="+mn-lt"/>
                <a:cs typeface="+mn-lt"/>
              </a:rPr>
              <a:t>Manual image review is time-consuming and error prone.</a:t>
            </a:r>
            <a:endParaRPr lang="en-GB" sz="1400"/>
          </a:p>
          <a:p>
            <a:pPr>
              <a:buFont typeface="Arial"/>
              <a:buChar char="•"/>
            </a:pPr>
            <a:r>
              <a:rPr lang="en-GB" sz="1400">
                <a:ea typeface="+mn-lt"/>
                <a:cs typeface="+mn-lt"/>
              </a:rPr>
              <a:t>Large areas make consistent monitoring difficult.</a:t>
            </a:r>
            <a:endParaRPr lang="en-GB" sz="1400"/>
          </a:p>
          <a:p>
            <a:pPr>
              <a:buFont typeface="Arial"/>
              <a:buChar char="•"/>
            </a:pPr>
            <a:r>
              <a:rPr lang="en-GB" sz="1400">
                <a:ea typeface="+mn-lt"/>
                <a:cs typeface="+mn-lt"/>
              </a:rPr>
              <a:t>Lighting and weather variations reduce detection accuracy.</a:t>
            </a:r>
            <a:endParaRPr lang="en-GB" sz="1400"/>
          </a:p>
          <a:p>
            <a:pPr>
              <a:buFont typeface="Arial"/>
              <a:buChar char="•"/>
            </a:pPr>
            <a:r>
              <a:rPr lang="en-GB" sz="1400">
                <a:ea typeface="+mn-lt"/>
                <a:cs typeface="+mn-lt"/>
              </a:rPr>
              <a:t>No consistent AI pipeline existed to handle both drone and wildlife detection efficiently.</a:t>
            </a:r>
          </a:p>
          <a:p>
            <a:pPr marL="0" indent="0">
              <a:buNone/>
            </a:pPr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350664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0" name="Rectangle 219">
            <a:extLst>
              <a:ext uri="{FF2B5EF4-FFF2-40B4-BE49-F238E27FC236}">
                <a16:creationId xmlns:a16="http://schemas.microsoft.com/office/drawing/2014/main" id="{8DF66CB0-1AD6-4D8C-BE70-897ADA64F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24C3B26D-D43F-467B-B943-E20A45E78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799"/>
            <a:ext cx="6802718" cy="54864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274705-DB3D-0399-A920-904B52D5A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274" y="1063256"/>
            <a:ext cx="5624624" cy="1097210"/>
          </a:xfrm>
        </p:spPr>
        <p:txBody>
          <a:bodyPr anchor="b">
            <a:normAutofit/>
          </a:bodyPr>
          <a:lstStyle/>
          <a:p>
            <a:pPr algn="ctr"/>
            <a:r>
              <a:rPr lang="en-GB" sz="3200">
                <a:solidFill>
                  <a:srgbClr val="595959"/>
                </a:solidFill>
                <a:ea typeface="+mj-lt"/>
                <a:cs typeface="+mj-lt"/>
              </a:rPr>
              <a:t>Proposed Solution – YOLOv12 Dual Detection System</a:t>
            </a:r>
            <a:endParaRPr lang="en-US" sz="3200">
              <a:solidFill>
                <a:srgbClr val="595959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11A9588-1594-3F8B-13D1-DAB29CCB3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258" y="2447337"/>
            <a:ext cx="6506655" cy="315602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GB" sz="1400">
                <a:solidFill>
                  <a:srgbClr val="595959"/>
                </a:solidFill>
                <a:ea typeface="+mn-lt"/>
                <a:cs typeface="+mn-lt"/>
              </a:rPr>
              <a:t> A unified YOLOv12-based detection system was developed to perform </a:t>
            </a:r>
            <a:endParaRPr lang="en-US" sz="1400" b="1">
              <a:solidFill>
                <a:srgbClr val="595959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GB" sz="1400">
                <a:solidFill>
                  <a:srgbClr val="595959"/>
                </a:solidFill>
                <a:ea typeface="+mn-lt"/>
                <a:cs typeface="+mn-lt"/>
              </a:rPr>
              <a:t>dual detection for both drones and kangaroos through an automated  AI pipeline.</a:t>
            </a:r>
            <a:endParaRPr lang="en-US" sz="1400" b="1">
              <a:solidFill>
                <a:srgbClr val="595959"/>
              </a:solidFill>
              <a:ea typeface="+mn-lt"/>
              <a:cs typeface="+mn-lt"/>
            </a:endParaRPr>
          </a:p>
          <a:p>
            <a:pPr>
              <a:buNone/>
            </a:pPr>
            <a:endParaRPr lang="en-GB" sz="1400">
              <a:solidFill>
                <a:srgbClr val="595959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GB" sz="1400" b="1">
                <a:solidFill>
                  <a:srgbClr val="595959"/>
                </a:solidFill>
                <a:ea typeface="+mn-lt"/>
                <a:cs typeface="+mn-lt"/>
              </a:rPr>
              <a:t>Core Highlights:</a:t>
            </a:r>
            <a:endParaRPr lang="en-GB" sz="1400">
              <a:solidFill>
                <a:srgbClr val="595959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1400">
                <a:solidFill>
                  <a:srgbClr val="595959"/>
                </a:solidFill>
                <a:ea typeface="+mn-lt"/>
                <a:cs typeface="+mn-lt"/>
              </a:rPr>
              <a:t> </a:t>
            </a:r>
            <a:r>
              <a:rPr lang="en-GB" sz="1400" b="1">
                <a:solidFill>
                  <a:srgbClr val="595959"/>
                </a:solidFill>
                <a:ea typeface="+mn-lt"/>
                <a:cs typeface="+mn-lt"/>
              </a:rPr>
              <a:t>Dual Detection - </a:t>
            </a:r>
            <a:r>
              <a:rPr lang="en-GB" sz="1400">
                <a:solidFill>
                  <a:srgbClr val="595959"/>
                </a:solidFill>
                <a:ea typeface="+mn-lt"/>
                <a:cs typeface="+mn-lt"/>
              </a:rPr>
              <a:t>Single model identifies drones and kangaroos.</a:t>
            </a:r>
          </a:p>
          <a:p>
            <a:pPr>
              <a:buFont typeface="Arial"/>
              <a:buChar char="•"/>
            </a:pPr>
            <a:r>
              <a:rPr lang="en-GB" sz="1400" b="1">
                <a:solidFill>
                  <a:srgbClr val="595959"/>
                </a:solidFill>
                <a:ea typeface="+mn-lt"/>
                <a:cs typeface="+mn-lt"/>
              </a:rPr>
              <a:t>Smart Augmentation - </a:t>
            </a:r>
            <a:r>
              <a:rPr lang="en-GB" sz="1400" err="1">
                <a:solidFill>
                  <a:srgbClr val="595959"/>
                </a:solidFill>
                <a:ea typeface="+mn-lt"/>
                <a:cs typeface="+mn-lt"/>
              </a:rPr>
              <a:t>MixUp</a:t>
            </a:r>
            <a:r>
              <a:rPr lang="en-GB" sz="1400">
                <a:solidFill>
                  <a:srgbClr val="595959"/>
                </a:solidFill>
                <a:ea typeface="+mn-lt"/>
                <a:cs typeface="+mn-lt"/>
              </a:rPr>
              <a:t>, Mosaic, </a:t>
            </a:r>
            <a:r>
              <a:rPr lang="en-GB" sz="1400" err="1">
                <a:solidFill>
                  <a:srgbClr val="595959"/>
                </a:solidFill>
                <a:ea typeface="+mn-lt"/>
                <a:cs typeface="+mn-lt"/>
              </a:rPr>
              <a:t>CutMix</a:t>
            </a:r>
            <a:r>
              <a:rPr lang="en-GB" sz="1400">
                <a:solidFill>
                  <a:srgbClr val="595959"/>
                </a:solidFill>
                <a:ea typeface="+mn-lt"/>
                <a:cs typeface="+mn-lt"/>
              </a:rPr>
              <a:t>, Weather, and Perspective enhancements.</a:t>
            </a:r>
          </a:p>
          <a:p>
            <a:pPr>
              <a:buFont typeface="Arial"/>
              <a:buChar char="•"/>
            </a:pPr>
            <a:r>
              <a:rPr lang="en-GB" sz="1400" b="1">
                <a:solidFill>
                  <a:srgbClr val="595959"/>
                </a:solidFill>
                <a:ea typeface="+mn-lt"/>
                <a:cs typeface="+mn-lt"/>
              </a:rPr>
              <a:t>YOLOv12 + </a:t>
            </a:r>
            <a:r>
              <a:rPr lang="en-GB" sz="1400" b="1" err="1">
                <a:solidFill>
                  <a:srgbClr val="595959"/>
                </a:solidFill>
                <a:ea typeface="+mn-lt"/>
                <a:cs typeface="+mn-lt"/>
              </a:rPr>
              <a:t>PyTorch</a:t>
            </a:r>
            <a:r>
              <a:rPr lang="en-GB" sz="1400" b="1">
                <a:solidFill>
                  <a:srgbClr val="595959"/>
                </a:solidFill>
                <a:ea typeface="+mn-lt"/>
                <a:cs typeface="+mn-lt"/>
              </a:rPr>
              <a:t> - </a:t>
            </a:r>
            <a:r>
              <a:rPr lang="en-GB" sz="1400">
                <a:solidFill>
                  <a:srgbClr val="595959"/>
                </a:solidFill>
                <a:ea typeface="+mn-lt"/>
                <a:cs typeface="+mn-lt"/>
              </a:rPr>
              <a:t> High-accuracy training with real-time validation.</a:t>
            </a:r>
          </a:p>
          <a:p>
            <a:pPr>
              <a:buFont typeface="Arial"/>
              <a:buChar char="•"/>
            </a:pPr>
            <a:r>
              <a:rPr lang="en-GB" sz="1400" b="1">
                <a:solidFill>
                  <a:srgbClr val="595959"/>
                </a:solidFill>
                <a:ea typeface="+mn-lt"/>
                <a:cs typeface="+mn-lt"/>
              </a:rPr>
              <a:t>Quality Filtering - </a:t>
            </a:r>
            <a:r>
              <a:rPr lang="en-GB" sz="1400">
                <a:solidFill>
                  <a:srgbClr val="595959"/>
                </a:solidFill>
                <a:ea typeface="+mn-lt"/>
                <a:cs typeface="+mn-lt"/>
              </a:rPr>
              <a:t> Removes low-confidence samples below 70%.</a:t>
            </a:r>
          </a:p>
          <a:p>
            <a:pPr>
              <a:buFont typeface="Arial"/>
              <a:buChar char="•"/>
            </a:pPr>
            <a:r>
              <a:rPr lang="en-GB" sz="1400" b="1">
                <a:solidFill>
                  <a:srgbClr val="595959"/>
                </a:solidFill>
                <a:ea typeface="+mn-lt"/>
                <a:cs typeface="+mn-lt"/>
              </a:rPr>
              <a:t>Edge-Ready - </a:t>
            </a:r>
            <a:r>
              <a:rPr lang="en-GB" sz="1400">
                <a:solidFill>
                  <a:srgbClr val="595959"/>
                </a:solidFill>
                <a:ea typeface="+mn-lt"/>
                <a:cs typeface="+mn-lt"/>
              </a:rPr>
              <a:t> Optimized for field and on-device inference.</a:t>
            </a:r>
          </a:p>
          <a:p>
            <a:pPr marL="0" indent="0">
              <a:buNone/>
            </a:pPr>
            <a:endParaRPr lang="en-GB" sz="1300">
              <a:solidFill>
                <a:srgbClr val="595959"/>
              </a:solidFill>
            </a:endParaRPr>
          </a:p>
        </p:txBody>
      </p:sp>
      <p:pic>
        <p:nvPicPr>
          <p:cNvPr id="10" name="Picture 9" descr="A diagram of a system&#10;&#10;AI-generated content may be incorrect.">
            <a:extLst>
              <a:ext uri="{FF2B5EF4-FFF2-40B4-BE49-F238E27FC236}">
                <a16:creationId xmlns:a16="http://schemas.microsoft.com/office/drawing/2014/main" id="{5D63795A-A743-461F-5FE5-FD718D9EA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5" r="-3" b="10807"/>
          <a:stretch>
            <a:fillRect/>
          </a:stretch>
        </p:blipFill>
        <p:spPr>
          <a:xfrm>
            <a:off x="7461069" y="685799"/>
            <a:ext cx="4117787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890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10B6CB-768C-10B7-9866-840070927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2" y="647815"/>
            <a:ext cx="3879546" cy="3174137"/>
          </a:xfrm>
        </p:spPr>
        <p:txBody>
          <a:bodyPr anchor="b">
            <a:normAutofit/>
          </a:bodyPr>
          <a:lstStyle/>
          <a:p>
            <a:pPr algn="ctr"/>
            <a:r>
              <a:rPr lang="en-GB" sz="4000">
                <a:solidFill>
                  <a:srgbClr val="FFFFFF"/>
                </a:solidFill>
                <a:ea typeface="+mj-lt"/>
                <a:cs typeface="+mj-lt"/>
              </a:rPr>
              <a:t>Client Value &amp; Impact  (CSIRO Relevance)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5E996CED-ED42-0DA4-70A8-4F8BF36D2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>
              <a:buNone/>
            </a:pPr>
            <a:endParaRPr lang="en-GB" sz="1700">
              <a:ea typeface="+mn-lt"/>
              <a:cs typeface="+mn-lt"/>
            </a:endParaRPr>
          </a:p>
          <a:p>
            <a:endParaRPr lang="en-GB" sz="1700" b="1">
              <a:ea typeface="+mn-lt"/>
              <a:cs typeface="+mn-lt"/>
            </a:endParaRPr>
          </a:p>
          <a:p>
            <a:endParaRPr lang="en-GB" sz="1700">
              <a:latin typeface="Calibri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700">
                <a:latin typeface="Calibri"/>
                <a:ea typeface="+mn-lt"/>
                <a:cs typeface="+mn-lt"/>
              </a:rPr>
              <a:t>This unified AI system directly supports CSIRO’s goal of sustainable, data         driven innovation in environmental and aerial research.</a:t>
            </a:r>
            <a:endParaRPr lang="en-GB">
              <a:latin typeface="Calibri"/>
              <a:ea typeface="+mn-lt"/>
              <a:cs typeface="+mn-lt"/>
            </a:endParaRPr>
          </a:p>
          <a:p>
            <a:pPr>
              <a:buNone/>
            </a:pPr>
            <a:endParaRPr lang="en-GB" sz="1700" b="1">
              <a:ea typeface="+mn-lt"/>
              <a:cs typeface="+mn-lt"/>
            </a:endParaRPr>
          </a:p>
          <a:p>
            <a:pPr>
              <a:buNone/>
            </a:pPr>
            <a:r>
              <a:rPr lang="en-GB" sz="1700" b="1">
                <a:ea typeface="+mn-lt"/>
                <a:cs typeface="+mn-lt"/>
              </a:rPr>
              <a:t>Key Benefits</a:t>
            </a:r>
            <a:endParaRPr lang="en-GB" sz="1700">
              <a:ea typeface="+mn-lt"/>
              <a:cs typeface="+mn-lt"/>
            </a:endParaRPr>
          </a:p>
          <a:p>
            <a:pPr>
              <a:buNone/>
            </a:pPr>
            <a:endParaRPr lang="en-GB" sz="1700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1700" b="1">
                <a:ea typeface="+mn-lt"/>
                <a:cs typeface="+mn-lt"/>
              </a:rPr>
              <a:t>Efficiency - </a:t>
            </a:r>
            <a:r>
              <a:rPr lang="en-GB" sz="1700">
                <a:ea typeface="+mn-lt"/>
                <a:cs typeface="+mn-lt"/>
              </a:rPr>
              <a:t>Automates detection, saving time and resources.</a:t>
            </a:r>
          </a:p>
          <a:p>
            <a:pPr>
              <a:buFont typeface="Arial"/>
              <a:buChar char="•"/>
            </a:pPr>
            <a:r>
              <a:rPr lang="en-GB" sz="1700" b="1">
                <a:ea typeface="+mn-lt"/>
                <a:cs typeface="+mn-lt"/>
              </a:rPr>
              <a:t>Accuracy - </a:t>
            </a:r>
            <a:r>
              <a:rPr lang="en-GB" sz="1700">
                <a:ea typeface="+mn-lt"/>
                <a:cs typeface="+mn-lt"/>
              </a:rPr>
              <a:t>Confidence-based filtering ensures reliable results.</a:t>
            </a:r>
          </a:p>
          <a:p>
            <a:pPr>
              <a:buFont typeface="Arial"/>
              <a:buChar char="•"/>
            </a:pPr>
            <a:r>
              <a:rPr lang="en-GB" sz="1700" b="1">
                <a:ea typeface="+mn-lt"/>
                <a:cs typeface="+mn-lt"/>
              </a:rPr>
              <a:t>Cost-Effective - </a:t>
            </a:r>
            <a:r>
              <a:rPr lang="en-GB" sz="1700">
                <a:ea typeface="+mn-lt"/>
                <a:cs typeface="+mn-lt"/>
              </a:rPr>
              <a:t> One model for both drones and wildlife.</a:t>
            </a:r>
          </a:p>
          <a:p>
            <a:pPr>
              <a:buFont typeface="Arial"/>
              <a:buChar char="•"/>
            </a:pPr>
            <a:r>
              <a:rPr lang="en-GB" sz="1700" b="1">
                <a:ea typeface="+mn-lt"/>
                <a:cs typeface="+mn-lt"/>
              </a:rPr>
              <a:t>Sustainable - </a:t>
            </a:r>
            <a:r>
              <a:rPr lang="en-GB" sz="1700">
                <a:ea typeface="+mn-lt"/>
                <a:cs typeface="+mn-lt"/>
              </a:rPr>
              <a:t>Enables non-intrusive environmental monitoring.</a:t>
            </a:r>
          </a:p>
          <a:p>
            <a:pPr>
              <a:buFont typeface="Arial"/>
              <a:buChar char="•"/>
            </a:pPr>
            <a:r>
              <a:rPr lang="en-GB" sz="1700" b="1">
                <a:ea typeface="+mn-lt"/>
                <a:cs typeface="+mn-lt"/>
              </a:rPr>
              <a:t>Scalable - </a:t>
            </a:r>
            <a:r>
              <a:rPr lang="en-GB" sz="1700">
                <a:ea typeface="+mn-lt"/>
                <a:cs typeface="+mn-lt"/>
              </a:rPr>
              <a:t>Easily extendable to new species and aerial targets.</a:t>
            </a:r>
          </a:p>
          <a:p>
            <a:pPr marL="0" indent="0">
              <a:buNone/>
            </a:pPr>
            <a:br>
              <a:rPr lang="en-GB" sz="1700" b="1">
                <a:ea typeface="+mn-lt"/>
                <a:cs typeface="+mn-lt"/>
              </a:rPr>
            </a:br>
            <a:r>
              <a:rPr lang="en-GB" sz="1700" b="1">
                <a:ea typeface="+mn-lt"/>
                <a:cs typeface="+mn-lt"/>
              </a:rPr>
              <a:t>Impact Achieved</a:t>
            </a:r>
            <a:endParaRPr lang="en-GB" sz="1700">
              <a:ea typeface="+mn-lt"/>
              <a:cs typeface="+mn-lt"/>
            </a:endParaRPr>
          </a:p>
          <a:p>
            <a:pPr marL="0" indent="0">
              <a:buNone/>
            </a:pPr>
            <a:endParaRPr lang="en-GB" sz="1700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1700">
                <a:ea typeface="+mn-lt"/>
                <a:cs typeface="+mn-lt"/>
              </a:rPr>
              <a:t> Drone Model – 95.9% </a:t>
            </a:r>
            <a:r>
              <a:rPr lang="en-GB" sz="1700" err="1">
                <a:ea typeface="+mn-lt"/>
                <a:cs typeface="+mn-lt"/>
              </a:rPr>
              <a:t>mAP</a:t>
            </a:r>
            <a:r>
              <a:rPr lang="en-GB" sz="1700">
                <a:ea typeface="+mn-lt"/>
                <a:cs typeface="+mn-lt"/>
              </a:rPr>
              <a:t> accuracy</a:t>
            </a:r>
          </a:p>
          <a:p>
            <a:pPr>
              <a:buFont typeface="Arial"/>
              <a:buChar char="•"/>
            </a:pPr>
            <a:r>
              <a:rPr lang="en-GB" sz="1700">
                <a:ea typeface="+mn-lt"/>
                <a:cs typeface="+mn-lt"/>
              </a:rPr>
              <a:t> Kangaroo Model – 86.6% validation accuracy</a:t>
            </a:r>
          </a:p>
          <a:p>
            <a:pPr>
              <a:buFont typeface="Arial"/>
              <a:buChar char="•"/>
            </a:pPr>
            <a:r>
              <a:rPr lang="en-GB" sz="1700">
                <a:ea typeface="+mn-lt"/>
                <a:cs typeface="+mn-lt"/>
              </a:rPr>
              <a:t> Reusable, high-quality AI pipeline ready for CSIRO deployment</a:t>
            </a:r>
          </a:p>
          <a:p>
            <a:pPr>
              <a:buNone/>
            </a:pPr>
            <a:endParaRPr lang="en-GB" sz="1700"/>
          </a:p>
          <a:p>
            <a:pPr>
              <a:buNone/>
            </a:pPr>
            <a:endParaRPr lang="en-GB" sz="1700"/>
          </a:p>
          <a:p>
            <a:pPr marL="0" indent="0">
              <a:buNone/>
            </a:pPr>
            <a:endParaRPr lang="en-GB" sz="1700"/>
          </a:p>
        </p:txBody>
      </p:sp>
    </p:spTree>
    <p:extLst>
      <p:ext uri="{BB962C8B-B14F-4D97-AF65-F5344CB8AC3E}">
        <p14:creationId xmlns:p14="http://schemas.microsoft.com/office/powerpoint/2010/main" val="4272855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DCD5B-EA2E-C895-D21B-A801643A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Deliverables &amp; Milestones</a:t>
            </a:r>
            <a:endParaRPr lang="en-US"/>
          </a:p>
        </p:txBody>
      </p:sp>
      <p:pic>
        <p:nvPicPr>
          <p:cNvPr id="7" name="Content Placeholder 6" descr="A timeline of a project&#10;&#10;AI-generated content may be incorrect.">
            <a:extLst>
              <a:ext uri="{FF2B5EF4-FFF2-40B4-BE49-F238E27FC236}">
                <a16:creationId xmlns:a16="http://schemas.microsoft.com/office/drawing/2014/main" id="{294E5A5B-EA64-414A-BA36-AAF818C9E4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83188" y="1109662"/>
            <a:ext cx="6172200" cy="462915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277ED-5C42-DB4C-B760-220CAB149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285750" indent="-285750">
              <a:buFont typeface="Arial,Sans-Serif"/>
              <a:buChar char="•"/>
            </a:pPr>
            <a:r>
              <a:rPr lang="en-GB" sz="2800"/>
              <a:t>Week 1–2: Baseline environment verification.</a:t>
            </a:r>
          </a:p>
          <a:p>
            <a:pPr marL="285750" indent="-285750">
              <a:buFont typeface="Arial,Sans-Serif"/>
              <a:buChar char="•"/>
            </a:pPr>
            <a:r>
              <a:rPr lang="en-GB" sz="2800"/>
              <a:t>Week 3–6: Dataset collection and annotation.</a:t>
            </a:r>
          </a:p>
          <a:p>
            <a:pPr marL="285750" indent="-285750">
              <a:buFont typeface="Arial,Sans-Serif"/>
              <a:buChar char="•"/>
            </a:pPr>
            <a:r>
              <a:rPr lang="en-GB" sz="2800"/>
              <a:t>Week 7–9: Training, hyper-tuning, ONNX conversion.</a:t>
            </a:r>
          </a:p>
          <a:p>
            <a:pPr marL="285750" indent="-285750">
              <a:buFont typeface="Arial,Sans-Serif"/>
              <a:buChar char="•"/>
            </a:pPr>
            <a:r>
              <a:rPr lang="en-GB" sz="2800"/>
              <a:t>Week 10–12: Jetson testing and demo preparation.</a:t>
            </a:r>
          </a:p>
          <a:p>
            <a:pPr marL="285750" indent="-285750">
              <a:buFont typeface="Arial,Sans-Serif"/>
              <a:buChar char="•"/>
            </a:pPr>
            <a:r>
              <a:rPr lang="en-GB" sz="2800"/>
              <a:t>All milestones completed on schedule.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629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0FC1E-7476-2770-0C99-BEFF44529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C6102-0B9E-7BE2-8CE6-859806590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r>
              <a:rPr lang="en-US" sz="1200" b="1"/>
              <a:t>Kangaroo Dataset</a:t>
            </a:r>
          </a:p>
          <a:p>
            <a:pPr marL="0"/>
            <a:r>
              <a:rPr lang="en-US" sz="1200" b="1"/>
              <a:t>Initial Setup:</a:t>
            </a:r>
            <a:endParaRPr lang="en-US" sz="1200"/>
          </a:p>
          <a:p>
            <a:r>
              <a:rPr lang="en-US" sz="1200" b="1"/>
              <a:t>Source:</a:t>
            </a:r>
            <a:r>
              <a:rPr lang="en-US" sz="1200"/>
              <a:t> William provided 543 images</a:t>
            </a:r>
          </a:p>
          <a:p>
            <a:r>
              <a:rPr lang="en-US" sz="1200" b="1"/>
              <a:t>Preprocessing:</a:t>
            </a:r>
            <a:r>
              <a:rPr lang="en-US" sz="1200"/>
              <a:t> Augmented &amp; labeled in </a:t>
            </a:r>
            <a:r>
              <a:rPr lang="en-US" sz="1200" err="1"/>
              <a:t>Roboflow</a:t>
            </a:r>
            <a:endParaRPr lang="en-US" sz="1200"/>
          </a:p>
          <a:p>
            <a:r>
              <a:rPr lang="en-US" sz="1200" b="1"/>
              <a:t>Train/Val Split:</a:t>
            </a:r>
            <a:r>
              <a:rPr lang="en-US" sz="1200"/>
              <a:t> 80/20 </a:t>
            </a:r>
          </a:p>
          <a:p>
            <a:pPr marL="971550" lvl="1"/>
            <a:r>
              <a:rPr lang="en-US" sz="1200"/>
              <a:t>Train: 434 images</a:t>
            </a:r>
          </a:p>
          <a:p>
            <a:pPr marL="971550" lvl="1"/>
            <a:r>
              <a:rPr lang="en-US" sz="1200"/>
              <a:t>Validation: 109 images</a:t>
            </a:r>
          </a:p>
          <a:p>
            <a:pPr lvl="1"/>
            <a:r>
              <a:rPr lang="en-US" sz="1200" b="1"/>
              <a:t>First Training Round:</a:t>
            </a:r>
            <a:endParaRPr lang="en-US" sz="1200"/>
          </a:p>
          <a:p>
            <a:r>
              <a:rPr lang="en-US" sz="1200"/>
              <a:t>Trained YOLOv12 model</a:t>
            </a:r>
          </a:p>
          <a:p>
            <a:r>
              <a:rPr lang="en-US" sz="1200"/>
              <a:t>Tested on validation set</a:t>
            </a:r>
          </a:p>
          <a:p>
            <a:r>
              <a:rPr lang="en-US" sz="1200" b="1"/>
              <a:t>Quality Control:</a:t>
            </a:r>
            <a:r>
              <a:rPr lang="en-US" sz="1200"/>
              <a:t> Removed 16 low-confidence images (&lt;0.5)</a:t>
            </a:r>
          </a:p>
          <a:p>
            <a:r>
              <a:rPr lang="en-US" sz="1200" b="1"/>
              <a:t>Final Dataset:</a:t>
            </a:r>
            <a:endParaRPr lang="en-US" sz="1200"/>
          </a:p>
          <a:p>
            <a:r>
              <a:rPr lang="en-US" sz="1200"/>
              <a:t>527 high-quality images</a:t>
            </a:r>
          </a:p>
          <a:p>
            <a:r>
              <a:rPr lang="en-US" sz="1200"/>
              <a:t>Ready for production</a:t>
            </a:r>
          </a:p>
          <a:p>
            <a:endParaRPr lang="en-US" sz="1100" b="1"/>
          </a:p>
          <a:p>
            <a:pPr marL="0"/>
            <a:endParaRPr lang="en-US" sz="11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3A86284-D9F4-68CB-0A6E-F91633AF5542}"/>
              </a:ext>
            </a:extLst>
          </p:cNvPr>
          <p:cNvSpPr txBox="1">
            <a:spLocks/>
          </p:cNvSpPr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1200" b="1"/>
              <a:t>Drone Dataset</a:t>
            </a:r>
          </a:p>
          <a:p>
            <a:r>
              <a:rPr lang="en-US" sz="1200" b="1"/>
              <a:t>Round 1 - Initial Training:</a:t>
            </a:r>
            <a:endParaRPr lang="en-US" sz="1200"/>
          </a:p>
          <a:p>
            <a:r>
              <a:rPr lang="en-US" sz="1200" b="1"/>
              <a:t>Source:</a:t>
            </a:r>
            <a:r>
              <a:rPr lang="en-US" sz="1200"/>
              <a:t> William provided 259 labeled images</a:t>
            </a:r>
          </a:p>
          <a:p>
            <a:r>
              <a:rPr lang="en-US" sz="1200" b="1"/>
              <a:t>Sonal:</a:t>
            </a:r>
            <a:r>
              <a:rPr lang="en-US" sz="1200"/>
              <a:t> Split 80/20 </a:t>
            </a:r>
          </a:p>
          <a:p>
            <a:pPr marL="971550" lvl="1"/>
            <a:r>
              <a:rPr lang="en-US" sz="1200"/>
              <a:t>Train: 207 images</a:t>
            </a:r>
          </a:p>
          <a:p>
            <a:pPr marL="971550" lvl="1"/>
            <a:r>
              <a:rPr lang="en-US" sz="1200"/>
              <a:t>Validation: 52 images</a:t>
            </a:r>
          </a:p>
          <a:p>
            <a:r>
              <a:rPr lang="en-US" sz="1200" b="1"/>
              <a:t>Sonal:</a:t>
            </a:r>
            <a:r>
              <a:rPr lang="en-US" sz="1200"/>
              <a:t> Trained YOLOv12 model</a:t>
            </a:r>
          </a:p>
          <a:p>
            <a:r>
              <a:rPr lang="en-US" sz="1200" b="1"/>
              <a:t>Sonal:</a:t>
            </a:r>
            <a:r>
              <a:rPr lang="en-US" sz="1200"/>
              <a:t> Tested on validation set</a:t>
            </a:r>
          </a:p>
          <a:p>
            <a:r>
              <a:rPr lang="en-US" sz="1200" b="1"/>
              <a:t>Sonal:</a:t>
            </a:r>
            <a:r>
              <a:rPr lang="en-US" sz="1200"/>
              <a:t> Removed 3 low-confidence images (&lt;0.5)</a:t>
            </a:r>
          </a:p>
          <a:p>
            <a:r>
              <a:rPr lang="en-US" sz="1200" b="1"/>
              <a:t>Round 2 - Augmented Retraining:</a:t>
            </a:r>
            <a:endParaRPr lang="en-US" sz="1200"/>
          </a:p>
          <a:p>
            <a:r>
              <a:rPr lang="en-US" sz="1200" b="1"/>
              <a:t>Sonal gave 49 images to </a:t>
            </a:r>
            <a:r>
              <a:rPr lang="en-US" sz="1200" b="1" err="1"/>
              <a:t>Manindu</a:t>
            </a:r>
            <a:r>
              <a:rPr lang="en-US" sz="1200"/>
              <a:t> for augmentation</a:t>
            </a:r>
          </a:p>
          <a:p>
            <a:r>
              <a:rPr lang="en-US" sz="1200" b="1" err="1"/>
              <a:t>Manindu's</a:t>
            </a:r>
            <a:r>
              <a:rPr lang="en-US" sz="1200" b="1"/>
              <a:t> augmentation:</a:t>
            </a:r>
            <a:r>
              <a:rPr lang="en-US" sz="1200"/>
              <a:t> Applied </a:t>
            </a:r>
            <a:r>
              <a:rPr lang="en-US" sz="1200" err="1"/>
              <a:t>MixUp</a:t>
            </a:r>
            <a:r>
              <a:rPr lang="en-US" sz="1200"/>
              <a:t>, Mosaic, </a:t>
            </a:r>
            <a:r>
              <a:rPr lang="en-US" sz="1200" err="1"/>
              <a:t>CutMix</a:t>
            </a:r>
            <a:r>
              <a:rPr lang="en-US" sz="1200"/>
              <a:t>, weather effects, perspective changes</a:t>
            </a:r>
          </a:p>
          <a:p>
            <a:r>
              <a:rPr lang="en-US" sz="1200" b="1" err="1"/>
              <a:t>Manindu's</a:t>
            </a:r>
            <a:r>
              <a:rPr lang="en-US" sz="1200" b="1"/>
              <a:t> result:</a:t>
            </a:r>
            <a:r>
              <a:rPr lang="en-US" sz="1200"/>
              <a:t> ~400 augmented images</a:t>
            </a:r>
          </a:p>
          <a:p>
            <a:r>
              <a:rPr lang="en-US" sz="1200" b="1" err="1"/>
              <a:t>Manindu</a:t>
            </a:r>
            <a:r>
              <a:rPr lang="en-US" sz="1200" b="1"/>
              <a:t> returned augmented dataset to Sonal</a:t>
            </a:r>
            <a:endParaRPr lang="en-US" sz="1200"/>
          </a:p>
          <a:p>
            <a:r>
              <a:rPr lang="en-US" sz="1200" b="1"/>
              <a:t>Sonal:</a:t>
            </a:r>
            <a:r>
              <a:rPr lang="en-US" sz="1200"/>
              <a:t> New 80/20 split and retrained</a:t>
            </a:r>
          </a:p>
          <a:p>
            <a:r>
              <a:rPr lang="en-US" sz="1200" b="1"/>
              <a:t>Sonal:</a:t>
            </a:r>
            <a:r>
              <a:rPr lang="en-US" sz="1200"/>
              <a:t> Final Quality Check - </a:t>
            </a:r>
            <a:r>
              <a:rPr lang="en-US" sz="1200" b="1"/>
              <a:t>0 images removed</a:t>
            </a:r>
            <a:r>
              <a:rPr lang="en-US" sz="1200"/>
              <a:t> - all detections &gt;0.5 confidence </a:t>
            </a:r>
          </a:p>
          <a:p>
            <a:pPr marL="0"/>
            <a:endParaRPr lang="en-US" sz="800" b="1"/>
          </a:p>
          <a:p>
            <a:endParaRPr lang="en-US" sz="800" b="1"/>
          </a:p>
          <a:p>
            <a:pPr marL="0"/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547052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6EB68-FDEA-F09E-EC93-6DA3F953B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83263"/>
          </a:xfrm>
        </p:spPr>
        <p:txBody>
          <a:bodyPr>
            <a:normAutofit/>
          </a:bodyPr>
          <a:lstStyle/>
          <a:p>
            <a:pPr algn="ctr"/>
            <a:r>
              <a:rPr lang="en-US" sz="9600"/>
              <a:t>DEMO VIDEO</a:t>
            </a:r>
          </a:p>
        </p:txBody>
      </p:sp>
    </p:spTree>
    <p:extLst>
      <p:ext uri="{BB962C8B-B14F-4D97-AF65-F5344CB8AC3E}">
        <p14:creationId xmlns:p14="http://schemas.microsoft.com/office/powerpoint/2010/main" val="3659908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ADF00-EBBA-13F2-4DB4-BC9D37677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Evaluation / Results</a:t>
            </a:r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227F794-A8F9-D0EB-A10F-1EC7774F30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12383" y="1366837"/>
            <a:ext cx="4513811" cy="41148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19401-E70E-0E16-A43B-5687243CD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285750" indent="-285750">
              <a:buFont typeface="Arial,Sans-Serif"/>
              <a:buChar char="•"/>
            </a:pPr>
            <a:r>
              <a:rPr lang="en-GB" sz="3200"/>
              <a:t>Drone Precision ≈ 85 %,Kangaroo Precision ≈ 79 %.</a:t>
            </a:r>
            <a:endParaRPr lang="en-US" sz="3200"/>
          </a:p>
          <a:p>
            <a:pPr marL="285750" indent="-285750">
              <a:buFont typeface="Arial,Sans-Serif"/>
              <a:buChar char="•"/>
            </a:pPr>
            <a:r>
              <a:rPr lang="en-GB" sz="3200"/>
              <a:t>Higher </a:t>
            </a:r>
            <a:r>
              <a:rPr lang="en-GB" sz="3200" err="1"/>
              <a:t>mAP</a:t>
            </a:r>
            <a:r>
              <a:rPr lang="en-GB" sz="3200"/>
              <a:t> than YOLOv8 for small object detection.</a:t>
            </a:r>
            <a:endParaRPr lang="en-US" sz="3200"/>
          </a:p>
          <a:p>
            <a:pPr marL="285750" indent="-285750">
              <a:buFont typeface="Arial,Sans-Serif"/>
              <a:buChar char="•"/>
            </a:pPr>
            <a:r>
              <a:rPr lang="en-GB" sz="3200"/>
              <a:t>Consistent loss reduction across epochs.</a:t>
            </a:r>
            <a:endParaRPr lang="en-US" sz="3200"/>
          </a:p>
          <a:p>
            <a:pPr marL="285750" indent="-285750">
              <a:buFont typeface="Arial,Sans-Serif"/>
              <a:buChar char="•"/>
            </a:pPr>
            <a:r>
              <a:rPr lang="en-GB" sz="3200"/>
              <a:t>Clear bounding boxes on test frames.</a:t>
            </a:r>
            <a:endParaRPr lang="en-US" sz="3200"/>
          </a:p>
          <a:p>
            <a:pPr marL="228600"/>
            <a:endParaRPr lang="en-GB" sz="3200"/>
          </a:p>
        </p:txBody>
      </p:sp>
    </p:spTree>
    <p:extLst>
      <p:ext uri="{BB962C8B-B14F-4D97-AF65-F5344CB8AC3E}">
        <p14:creationId xmlns:p14="http://schemas.microsoft.com/office/powerpoint/2010/main" val="2245106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5BD17-C383-FF7C-05AD-41061B986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Quality Assurance / Testing &amp; Validation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58AA-23C7-DC63-BB87-B7AAC9D26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,Sans-Serif"/>
              <a:buChar char="•"/>
            </a:pPr>
            <a:endParaRPr lang="en-GB"/>
          </a:p>
          <a:p>
            <a:pPr>
              <a:buNone/>
            </a:pPr>
            <a:endParaRPr lang="en-GB" b="1">
              <a:ea typeface="+mn-lt"/>
              <a:cs typeface="+mn-lt"/>
            </a:endParaRPr>
          </a:p>
          <a:p>
            <a:pPr marL="0" indent="0">
              <a:buNone/>
            </a:pPr>
            <a:endParaRPr lang="en-GB">
              <a:ea typeface="+mn-lt"/>
              <a:cs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19F72-2784-D251-9942-779A35236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285750" indent="-285750">
              <a:buFont typeface="Arial,Sans-Serif"/>
              <a:buChar char="•"/>
            </a:pPr>
            <a:r>
              <a:rPr lang="en-GB" sz="3200"/>
              <a:t>80 / 20 train-</a:t>
            </a:r>
            <a:r>
              <a:rPr lang="en-GB" sz="3200" err="1"/>
              <a:t>val</a:t>
            </a:r>
            <a:r>
              <a:rPr lang="en-GB" sz="3200"/>
              <a:t> split within dependent evaluation.</a:t>
            </a:r>
            <a:endParaRPr lang="en-US" sz="3200"/>
          </a:p>
          <a:p>
            <a:pPr marL="285750" indent="-285750">
              <a:buFont typeface="Arial,Sans-Serif"/>
              <a:buChar char="•"/>
            </a:pPr>
            <a:r>
              <a:rPr lang="en-GB" sz="3200"/>
              <a:t>Peer label reviews and error logging.</a:t>
            </a:r>
            <a:endParaRPr lang="en-US" sz="3200"/>
          </a:p>
          <a:p>
            <a:pPr marL="285750" indent="-285750">
              <a:buFont typeface="Arial,Sans-Serif"/>
              <a:buChar char="•"/>
            </a:pPr>
            <a:r>
              <a:rPr lang="en-GB" sz="3200"/>
              <a:t>Cross-validation and stress testing on unseen images.</a:t>
            </a:r>
            <a:endParaRPr lang="en-US" sz="3200"/>
          </a:p>
          <a:p>
            <a:pPr marL="285750" indent="-285750">
              <a:buFont typeface="Arial,Sans-Serif"/>
              <a:buChar char="•"/>
            </a:pPr>
            <a:r>
              <a:rPr lang="en-GB" sz="3200"/>
              <a:t>Risk register for hardware </a:t>
            </a:r>
            <a:r>
              <a:rPr lang="en-GB" sz="3200" err="1"/>
              <a:t>andannotation</a:t>
            </a:r>
            <a:r>
              <a:rPr lang="en-GB" sz="3200"/>
              <a:t> issues.</a:t>
            </a:r>
          </a:p>
          <a:p>
            <a:pPr marL="228600"/>
            <a:endParaRPr lang="en-GB" sz="3200"/>
          </a:p>
          <a:p>
            <a:pPr marL="228600" indent="-228600"/>
            <a:endParaRPr lang="en-GB" sz="3200"/>
          </a:p>
          <a:p>
            <a:endParaRPr lang="en-GB" sz="3200"/>
          </a:p>
          <a:p>
            <a:endParaRPr lang="en-GB"/>
          </a:p>
        </p:txBody>
      </p:sp>
      <p:pic>
        <p:nvPicPr>
          <p:cNvPr id="6" name="Picture 5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14B60171-93EC-60CE-0E0B-D1862416E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493" y="810226"/>
            <a:ext cx="6925520" cy="523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233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05A81-9F36-584A-A6CC-43239CB39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  <a:ea typeface="+mj-lt"/>
                <a:cs typeface="+mj-lt"/>
              </a:rPr>
              <a:t>Future Scope + Impact Summary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1DE8B-73C4-88C9-8268-8DDACE8FE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GB" sz="1100" b="1">
                <a:ea typeface="+mn-lt"/>
                <a:cs typeface="+mn-lt"/>
              </a:rPr>
              <a:t>Future Enhancements</a:t>
            </a:r>
            <a:endParaRPr lang="en-US" sz="1100" b="1"/>
          </a:p>
          <a:p>
            <a:pPr>
              <a:buNone/>
            </a:pPr>
            <a:r>
              <a:rPr lang="en-GB" sz="1100">
                <a:ea typeface="+mn-lt"/>
                <a:cs typeface="+mn-lt"/>
              </a:rPr>
              <a:t>    •    Real-Time Detection: Expand from image-based to live video analysis.</a:t>
            </a:r>
            <a:endParaRPr lang="en-GB" sz="1100"/>
          </a:p>
          <a:p>
            <a:pPr>
              <a:buNone/>
            </a:pPr>
            <a:r>
              <a:rPr lang="en-GB" sz="1100">
                <a:ea typeface="+mn-lt"/>
                <a:cs typeface="+mn-lt"/>
              </a:rPr>
              <a:t>    •    Multi-Object Tracking: Enable tracking across sequences, not just single frames.</a:t>
            </a:r>
            <a:endParaRPr lang="en-GB" sz="1100"/>
          </a:p>
          <a:p>
            <a:pPr>
              <a:buNone/>
            </a:pPr>
            <a:r>
              <a:rPr lang="en-GB" sz="1100">
                <a:ea typeface="+mn-lt"/>
                <a:cs typeface="+mn-lt"/>
              </a:rPr>
              <a:t>    •    Species Classification: Extend to identify specific drone types or kangaroo species.</a:t>
            </a:r>
            <a:endParaRPr lang="en-GB" sz="1100"/>
          </a:p>
          <a:p>
            <a:pPr>
              <a:buNone/>
            </a:pPr>
            <a:r>
              <a:rPr lang="en-GB" sz="1100">
                <a:ea typeface="+mn-lt"/>
                <a:cs typeface="+mn-lt"/>
              </a:rPr>
              <a:t>    •    Mobile &amp; Edge Deployment: Adapt models for Raspberry Pi, Jetson, and mobile apps.</a:t>
            </a:r>
            <a:endParaRPr lang="en-GB" sz="1100"/>
          </a:p>
          <a:p>
            <a:pPr>
              <a:buNone/>
            </a:pPr>
            <a:r>
              <a:rPr lang="en-GB" sz="1100">
                <a:ea typeface="+mn-lt"/>
                <a:cs typeface="+mn-lt"/>
              </a:rPr>
              <a:t>    •    3D Detection: Advance from 2D bounding boxes to full spatial localization.</a:t>
            </a:r>
            <a:endParaRPr lang="en-GB" sz="1100"/>
          </a:p>
          <a:p>
            <a:pPr>
              <a:buNone/>
            </a:pPr>
            <a:endParaRPr lang="en-GB" sz="1100"/>
          </a:p>
          <a:p>
            <a:pPr>
              <a:buNone/>
            </a:pPr>
            <a:endParaRPr lang="en-GB" sz="1100"/>
          </a:p>
          <a:p>
            <a:pPr>
              <a:buNone/>
            </a:pPr>
            <a:r>
              <a:rPr lang="en-GB" sz="1100" b="1">
                <a:ea typeface="+mn-lt"/>
                <a:cs typeface="+mn-lt"/>
              </a:rPr>
              <a:t>Recommendations</a:t>
            </a:r>
            <a:endParaRPr lang="en-GB" sz="1100" b="1"/>
          </a:p>
          <a:p>
            <a:pPr>
              <a:buNone/>
            </a:pPr>
            <a:r>
              <a:rPr lang="en-GB" sz="1100">
                <a:ea typeface="+mn-lt"/>
                <a:cs typeface="+mn-lt"/>
              </a:rPr>
              <a:t>    •    Dataset: Expand Kangaroo dataset (1,000+ images) and include varied lighting &amp; weather.</a:t>
            </a:r>
            <a:endParaRPr lang="en-GB" sz="1100"/>
          </a:p>
          <a:p>
            <a:pPr>
              <a:buNone/>
            </a:pPr>
            <a:r>
              <a:rPr lang="en-GB" sz="1100">
                <a:ea typeface="+mn-lt"/>
                <a:cs typeface="+mn-lt"/>
              </a:rPr>
              <a:t>    •    Model: Test larger YOLO models (YOLOv11 series) and enable continuous learning.</a:t>
            </a:r>
            <a:endParaRPr lang="en-GB" sz="1100"/>
          </a:p>
          <a:p>
            <a:pPr>
              <a:buNone/>
            </a:pPr>
            <a:r>
              <a:rPr lang="en-GB" sz="1100">
                <a:ea typeface="+mn-lt"/>
                <a:cs typeface="+mn-lt"/>
              </a:rPr>
              <a:t>    •    Deployment: Develop a cloud API and web dashboard for real-time monitoring.</a:t>
            </a:r>
            <a:endParaRPr lang="en-GB" sz="1100"/>
          </a:p>
          <a:p>
            <a:pPr>
              <a:buNone/>
            </a:pPr>
            <a:r>
              <a:rPr lang="en-GB" sz="1100">
                <a:ea typeface="+mn-lt"/>
                <a:cs typeface="+mn-lt"/>
              </a:rPr>
              <a:t>    •    Quality Assurance: Schedule regular retraining, monitor model drift, and gather feedback.</a:t>
            </a:r>
            <a:endParaRPr lang="en-GB" sz="1100"/>
          </a:p>
          <a:p>
            <a:pPr>
              <a:buNone/>
            </a:pPr>
            <a:endParaRPr lang="en-GB" sz="1100"/>
          </a:p>
          <a:p>
            <a:pPr>
              <a:buNone/>
            </a:pPr>
            <a:endParaRPr lang="en-GB" sz="1100"/>
          </a:p>
          <a:p>
            <a:pPr>
              <a:buNone/>
            </a:pPr>
            <a:r>
              <a:rPr lang="en-GB" sz="1100" b="1">
                <a:ea typeface="+mn-lt"/>
                <a:cs typeface="+mn-lt"/>
              </a:rPr>
              <a:t>Impact &amp; Next Steps</a:t>
            </a:r>
            <a:endParaRPr lang="en-GB" sz="1100" b="1"/>
          </a:p>
          <a:p>
            <a:pPr>
              <a:buNone/>
            </a:pPr>
            <a:r>
              <a:rPr lang="en-GB" sz="1100">
                <a:ea typeface="+mn-lt"/>
                <a:cs typeface="+mn-lt"/>
              </a:rPr>
              <a:t>    •    Drone: 95.9 % </a:t>
            </a:r>
            <a:r>
              <a:rPr lang="en-GB" sz="1100" err="1">
                <a:ea typeface="+mn-lt"/>
                <a:cs typeface="+mn-lt"/>
              </a:rPr>
              <a:t>mAP</a:t>
            </a:r>
            <a:r>
              <a:rPr lang="en-GB" sz="1100">
                <a:ea typeface="+mn-lt"/>
                <a:cs typeface="+mn-lt"/>
              </a:rPr>
              <a:t> accuracy</a:t>
            </a:r>
            <a:endParaRPr lang="en-GB" sz="1100"/>
          </a:p>
          <a:p>
            <a:pPr>
              <a:buNone/>
            </a:pPr>
            <a:r>
              <a:rPr lang="en-GB" sz="1100">
                <a:ea typeface="+mn-lt"/>
                <a:cs typeface="+mn-lt"/>
              </a:rPr>
              <a:t>    •    Kangaroo: 86.6 % validation accuracy</a:t>
            </a:r>
            <a:endParaRPr lang="en-GB" sz="1100"/>
          </a:p>
          <a:p>
            <a:pPr>
              <a:buNone/>
            </a:pPr>
            <a:r>
              <a:rPr lang="en-GB" sz="1100">
                <a:ea typeface="+mn-lt"/>
                <a:cs typeface="+mn-lt"/>
              </a:rPr>
              <a:t>    •    Outcome: Reusable AI pipeline ready for CSIRO deployment.</a:t>
            </a:r>
            <a:endParaRPr lang="en-GB" sz="1100"/>
          </a:p>
          <a:p>
            <a:pPr>
              <a:buNone/>
            </a:pPr>
            <a:r>
              <a:rPr lang="en-GB" sz="1100">
                <a:ea typeface="+mn-lt"/>
                <a:cs typeface="+mn-lt"/>
              </a:rPr>
              <a:t>    •    Next Step: Pilot deployment with continuous improvement and dataset expansion.</a:t>
            </a:r>
            <a:endParaRPr lang="en-GB" sz="1100"/>
          </a:p>
          <a:p>
            <a:pPr marL="0" indent="0">
              <a:buNone/>
            </a:pPr>
            <a:endParaRPr lang="en-GB" sz="1100"/>
          </a:p>
        </p:txBody>
      </p:sp>
    </p:spTree>
    <p:extLst>
      <p:ext uri="{BB962C8B-B14F-4D97-AF65-F5344CB8AC3E}">
        <p14:creationId xmlns:p14="http://schemas.microsoft.com/office/powerpoint/2010/main" val="3802980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wo kangaroos on a beach">
            <a:extLst>
              <a:ext uri="{FF2B5EF4-FFF2-40B4-BE49-F238E27FC236}">
                <a16:creationId xmlns:a16="http://schemas.microsoft.com/office/drawing/2014/main" id="{0BB0797A-4DD8-BFAF-BC02-8A7E2615F7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91" r="9091"/>
          <a:stretch>
            <a:fillRect/>
          </a:stretch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21C352-2BDC-523C-1849-7FDA9D361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THANK YOU!</a:t>
            </a:r>
            <a:br>
              <a:rPr lang="en-US" sz="6600">
                <a:solidFill>
                  <a:schemeClr val="bg1"/>
                </a:solidFill>
              </a:rPr>
            </a:br>
            <a:endParaRPr lang="en-US" sz="6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109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Dual Object Detection using YOLOv12</vt:lpstr>
      <vt:lpstr>Project Background </vt:lpstr>
      <vt:lpstr>Problem Statement</vt:lpstr>
      <vt:lpstr>Proposed Solution – YOLOv12 Dual Detection System</vt:lpstr>
      <vt:lpstr>Client Value &amp; Impact  (CSIRO Relevance)</vt:lpstr>
      <vt:lpstr>Deliverables &amp; Milestones</vt:lpstr>
      <vt:lpstr>Implementation Details</vt:lpstr>
      <vt:lpstr>DEMO VIDEO</vt:lpstr>
      <vt:lpstr>Evaluation / Results</vt:lpstr>
      <vt:lpstr>Quality Assurance / Testing &amp; Validation</vt:lpstr>
      <vt:lpstr>Future Scope + Impact Summary</vt:lpstr>
      <vt:lpstr>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2025-10-21T23:29:58Z</dcterms:created>
  <dcterms:modified xsi:type="dcterms:W3CDTF">2025-10-27T23:08:32Z</dcterms:modified>
</cp:coreProperties>
</file>